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penstreetmap.org/#map=7/27.352/81.699&amp;layers=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52600"/>
            <a:ext cx="592455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26028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dirty="0"/>
              <a:t>Dynamic Forecast of Expected Time of Arrival (ETA) for Coaching Trains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dirty="0" err="1"/>
              <a:t>SteamX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212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SteamX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DD33433C-4EE5-8795-3898-B72ABEDA905D}"/>
              </a:ext>
            </a:extLst>
          </p:cNvPr>
          <p:cNvSpPr/>
          <p:nvPr/>
        </p:nvSpPr>
        <p:spPr>
          <a:xfrm>
            <a:off x="457318" y="1077554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Forecast of ETA for Coaching Trains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85C94A-4CA4-A305-153D-EABFD4A25ECB}"/>
              </a:ext>
            </a:extLst>
          </p:cNvPr>
          <p:cNvSpPr/>
          <p:nvPr/>
        </p:nvSpPr>
        <p:spPr>
          <a:xfrm>
            <a:off x="503038" y="164448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SteamX   •   Problem Statement 26028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C18F018-A405-BF43-8970-FF03A0770806}"/>
              </a:ext>
            </a:extLst>
          </p:cNvPr>
          <p:cNvSpPr/>
          <p:nvPr/>
        </p:nvSpPr>
        <p:spPr>
          <a:xfrm>
            <a:off x="503038" y="198337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FCF68EF-A3AA-D2FB-A69D-37107881EB6A}"/>
              </a:ext>
            </a:extLst>
          </p:cNvPr>
          <p:cNvSpPr/>
          <p:nvPr/>
        </p:nvSpPr>
        <p:spPr>
          <a:xfrm>
            <a:off x="503038" y="2275978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pipeline that predicts each coaching train’s ETA at its next stations using historical delay patterns, current position, real track geometry, and inferred crossing/precedence risk — not just the static timetable.</a:t>
            </a:r>
            <a:endParaRPr lang="en-US" sz="12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23005F8-5A95-55ED-E7A2-6B205CBDF5A4}"/>
              </a:ext>
            </a:extLst>
          </p:cNvPr>
          <p:cNvSpPr/>
          <p:nvPr/>
        </p:nvSpPr>
        <p:spPr>
          <a:xfrm>
            <a:off x="503038" y="298921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1265EAF-C157-BD2C-3F2F-5C44E9E886A0}"/>
              </a:ext>
            </a:extLst>
          </p:cNvPr>
          <p:cNvSpPr/>
          <p:nvPr/>
        </p:nvSpPr>
        <p:spPr>
          <a:xfrm>
            <a:off x="503038" y="3281818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historical files + live scraped tracking (NTES/RailYatri/Trainman) + OpenStreetMap track geometry feed a joined per-train, per-station master table.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+ tree-ensemble (RF/XGBoost) model predicts delay on top of the schedule, with an uncertainty band — not a single guess.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arrival is fed back as a new training row, so the model keeps adapting instead of staying frozen after launch.</a:t>
            </a:r>
            <a:endParaRPr lang="en-US" sz="11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CF6A4D6-91D1-9233-1EB2-F51DAF50CB80}"/>
              </a:ext>
            </a:extLst>
          </p:cNvPr>
          <p:cNvSpPr/>
          <p:nvPr/>
        </p:nvSpPr>
        <p:spPr>
          <a:xfrm>
            <a:off x="503038" y="474485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C5EB605-1EB7-81FF-7F9A-F3E30BEDFE88}"/>
              </a:ext>
            </a:extLst>
          </p:cNvPr>
          <p:cNvSpPr/>
          <p:nvPr/>
        </p:nvSpPr>
        <p:spPr>
          <a:xfrm>
            <a:off x="503038" y="5037466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Precedence-inference engine: infers which train yields to which at a section from position + priority-class patterns — no official priority feed needed.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swap-point design: prototype scrapers sit in exactly the slot real CRIS/ISRO RTIS GPS data will occupy — zero redesign at production handoff.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Confidence-scored, explainable ETA (SHAP-based “why”) plus a live-replay demo mode, not just a number.</a:t>
            </a:r>
            <a:endParaRPr lang="en-US" sz="115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891C5BA7-4679-8F4C-EF57-D9D868B504A6}"/>
              </a:ext>
            </a:extLst>
          </p:cNvPr>
          <p:cNvSpPr/>
          <p:nvPr/>
        </p:nvSpPr>
        <p:spPr>
          <a:xfrm>
            <a:off x="7261918" y="1722122"/>
            <a:ext cx="4480560" cy="3997131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8E4F2"/>
            </a:solidFill>
            <a:prstDash val="solid"/>
          </a:ln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5FBD4962-0CCA-3255-659E-CCF16389EC99}"/>
              </a:ext>
            </a:extLst>
          </p:cNvPr>
          <p:cNvSpPr/>
          <p:nvPr/>
        </p:nvSpPr>
        <p:spPr>
          <a:xfrm>
            <a:off x="7536238" y="18520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→ THE FIX</a:t>
            </a:r>
            <a:endParaRPr lang="en-US" sz="125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0ED228F-1EDB-8A04-6183-5F0020C83AFF}"/>
              </a:ext>
            </a:extLst>
          </p:cNvPr>
          <p:cNvSpPr/>
          <p:nvPr/>
        </p:nvSpPr>
        <p:spPr>
          <a:xfrm>
            <a:off x="7536238" y="2236132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B3382C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A0FE6CB5-C8CE-0CC1-14EB-D4F26F7C0A68}"/>
              </a:ext>
            </a:extLst>
          </p:cNvPr>
          <p:cNvSpPr/>
          <p:nvPr/>
        </p:nvSpPr>
        <p:spPr>
          <a:xfrm>
            <a:off x="7673398" y="22818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NTES ETA</a:t>
            </a:r>
            <a:endParaRPr lang="en-US" sz="12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EBC998D4-121F-A7E5-A0DF-3BC94655B1B3}"/>
              </a:ext>
            </a:extLst>
          </p:cNvPr>
          <p:cNvSpPr/>
          <p:nvPr/>
        </p:nvSpPr>
        <p:spPr>
          <a:xfrm>
            <a:off x="7673398" y="25287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 timetable + last delay report</a:t>
            </a:r>
            <a:endParaRPr lang="en-US" sz="95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7462DBE-A747-9A35-DE73-1248A4AF7E81}"/>
              </a:ext>
            </a:extLst>
          </p:cNvPr>
          <p:cNvSpPr/>
          <p:nvPr/>
        </p:nvSpPr>
        <p:spPr>
          <a:xfrm>
            <a:off x="7536238" y="28945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53A4317A-F0EB-0426-F5AC-C38221204B1F}"/>
              </a:ext>
            </a:extLst>
          </p:cNvPr>
          <p:cNvSpPr/>
          <p:nvPr/>
        </p:nvSpPr>
        <p:spPr>
          <a:xfrm>
            <a:off x="7536238" y="3113956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47DC52F5-9F53-4DB2-1772-0F98B8F692F5}"/>
              </a:ext>
            </a:extLst>
          </p:cNvPr>
          <p:cNvSpPr/>
          <p:nvPr/>
        </p:nvSpPr>
        <p:spPr>
          <a:xfrm>
            <a:off x="7673398" y="31596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 + track data</a:t>
            </a:r>
            <a:endParaRPr lang="en-US" sz="125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51A07BD-9208-B038-69C8-3DFDC65644BC}"/>
              </a:ext>
            </a:extLst>
          </p:cNvPr>
          <p:cNvSpPr/>
          <p:nvPr/>
        </p:nvSpPr>
        <p:spPr>
          <a:xfrm>
            <a:off x="7673398" y="34065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train actually is, on the real line it runs</a:t>
            </a:r>
            <a:endParaRPr lang="en-US" sz="95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510BBB70-ADCA-6AE6-D868-F7FFE4079AE5}"/>
              </a:ext>
            </a:extLst>
          </p:cNvPr>
          <p:cNvSpPr/>
          <p:nvPr/>
        </p:nvSpPr>
        <p:spPr>
          <a:xfrm>
            <a:off x="7536238" y="37723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F8433D49-ABB1-4E7E-B9E0-29915F9A43FE}"/>
              </a:ext>
            </a:extLst>
          </p:cNvPr>
          <p:cNvSpPr/>
          <p:nvPr/>
        </p:nvSpPr>
        <p:spPr>
          <a:xfrm>
            <a:off x="7536238" y="39917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F26A21"/>
            </a:solidFill>
            <a:prstDash val="solid"/>
          </a:ln>
        </p:spPr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7634C4D-1C16-4EDA-DDED-B1E97BCEE9FD}"/>
              </a:ext>
            </a:extLst>
          </p:cNvPr>
          <p:cNvSpPr/>
          <p:nvPr/>
        </p:nvSpPr>
        <p:spPr>
          <a:xfrm>
            <a:off x="7673398" y="40375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+ section history</a:t>
            </a:r>
            <a:endParaRPr lang="en-US" sz="125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6319A910-1AAB-4D20-9524-EB1AE7FA4209}"/>
              </a:ext>
            </a:extLst>
          </p:cNvPr>
          <p:cNvSpPr/>
          <p:nvPr/>
        </p:nvSpPr>
        <p:spPr>
          <a:xfrm>
            <a:off x="7673398" y="42843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yields to whom, and how that section usually behaves</a:t>
            </a:r>
            <a:endParaRPr lang="en-US" sz="95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7147FB5-18BE-9FFA-2556-4C040B007090}"/>
              </a:ext>
            </a:extLst>
          </p:cNvPr>
          <p:cNvSpPr/>
          <p:nvPr/>
        </p:nvSpPr>
        <p:spPr>
          <a:xfrm>
            <a:off x="7536238" y="46501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3C910F97-A385-2910-8822-799F49E2C153}"/>
              </a:ext>
            </a:extLst>
          </p:cNvPr>
          <p:cNvSpPr/>
          <p:nvPr/>
        </p:nvSpPr>
        <p:spPr>
          <a:xfrm>
            <a:off x="7536238" y="4869604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2E7D57"/>
            </a:solidFill>
            <a:prstDash val="solid"/>
          </a:ln>
        </p:spPr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007A2894-40F4-DC69-3141-6C4D509713BB}"/>
              </a:ext>
            </a:extLst>
          </p:cNvPr>
          <p:cNvSpPr/>
          <p:nvPr/>
        </p:nvSpPr>
        <p:spPr>
          <a:xfrm>
            <a:off x="7673398" y="49153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self-improving ETA</a:t>
            </a:r>
            <a:endParaRPr lang="en-US" sz="125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A6CF1CF3-04B1-C832-9CFB-2C175C458B87}"/>
              </a:ext>
            </a:extLst>
          </p:cNvPr>
          <p:cNvSpPr/>
          <p:nvPr/>
        </p:nvSpPr>
        <p:spPr>
          <a:xfrm>
            <a:off x="7673398" y="51622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 + reason, retrained every cycle</a:t>
            </a:r>
            <a:endParaRPr lang="en-US" sz="95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4405D123-386B-B9D3-99B1-A66B9109BAFD}"/>
              </a:ext>
            </a:extLst>
          </p:cNvPr>
          <p:cNvSpPr/>
          <p:nvPr/>
        </p:nvSpPr>
        <p:spPr>
          <a:xfrm>
            <a:off x="137278" y="6481657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SteamX  |  PS 26028  |  Dynamic ETA Forecast for Coaching Trains</a:t>
            </a:r>
            <a:endParaRPr lang="en-US" sz="90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E42FF505-4DA4-098C-7B81-49CF435B3FAB}"/>
              </a:ext>
            </a:extLst>
          </p:cNvPr>
          <p:cNvSpPr/>
          <p:nvPr/>
        </p:nvSpPr>
        <p:spPr>
          <a:xfrm>
            <a:off x="11110078" y="6481657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F861186-3951-3AF0-BF0F-B3EAE9857D09}"/>
              </a:ext>
            </a:extLst>
          </p:cNvPr>
          <p:cNvSpPr/>
          <p:nvPr/>
        </p:nvSpPr>
        <p:spPr>
          <a:xfrm>
            <a:off x="448274" y="13167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4677C84-EB99-D515-C42E-D4415FB1EF67}"/>
              </a:ext>
            </a:extLst>
          </p:cNvPr>
          <p:cNvSpPr/>
          <p:nvPr/>
        </p:nvSpPr>
        <p:spPr>
          <a:xfrm>
            <a:off x="448274" y="1618488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750369A-3B6A-3B65-5780-5B8E9F01CF68}"/>
              </a:ext>
            </a:extLst>
          </p:cNvPr>
          <p:cNvSpPr/>
          <p:nvPr/>
        </p:nvSpPr>
        <p:spPr>
          <a:xfrm>
            <a:off x="448274" y="1618488"/>
            <a:ext cx="54864" cy="658368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3B35B04-F99B-9943-5CB6-9D02ADE17D34}"/>
              </a:ext>
            </a:extLst>
          </p:cNvPr>
          <p:cNvSpPr/>
          <p:nvPr/>
        </p:nvSpPr>
        <p:spPr>
          <a:xfrm>
            <a:off x="612866" y="1673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43C0708-D2CE-9F84-F2A3-A940AF853CAC}"/>
              </a:ext>
            </a:extLst>
          </p:cNvPr>
          <p:cNvSpPr/>
          <p:nvPr/>
        </p:nvSpPr>
        <p:spPr>
          <a:xfrm>
            <a:off x="612866" y="18836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(requests/BeautifulSoup or NTES JSON), cron on a VPS</a:t>
            </a:r>
            <a:endParaRPr lang="en-US" sz="95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E71C0DA-9304-4988-1EAB-D7EBA71882B6}"/>
              </a:ext>
            </a:extLst>
          </p:cNvPr>
          <p:cNvSpPr/>
          <p:nvPr/>
        </p:nvSpPr>
        <p:spPr>
          <a:xfrm>
            <a:off x="448274" y="2368296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D71B54C-0AAC-8641-9049-87318F940436}"/>
              </a:ext>
            </a:extLst>
          </p:cNvPr>
          <p:cNvSpPr/>
          <p:nvPr/>
        </p:nvSpPr>
        <p:spPr>
          <a:xfrm>
            <a:off x="448274" y="2368296"/>
            <a:ext cx="54864" cy="658368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6DD1A914-67C7-EE40-FBEE-86D0016DF700}"/>
              </a:ext>
            </a:extLst>
          </p:cNvPr>
          <p:cNvSpPr/>
          <p:nvPr/>
        </p:nvSpPr>
        <p:spPr>
          <a:xfrm>
            <a:off x="612866" y="24231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1CE36A7F-0ABC-4507-E311-298D55C7E248}"/>
              </a:ext>
            </a:extLst>
          </p:cNvPr>
          <p:cNvSpPr/>
          <p:nvPr/>
        </p:nvSpPr>
        <p:spPr>
          <a:xfrm>
            <a:off x="612866" y="26334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osmium, networkx</a:t>
            </a:r>
            <a:endParaRPr lang="en-US" sz="95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72206866-209A-CC0B-183A-8F8DE49C8A52}"/>
              </a:ext>
            </a:extLst>
          </p:cNvPr>
          <p:cNvSpPr/>
          <p:nvPr/>
        </p:nvSpPr>
        <p:spPr>
          <a:xfrm>
            <a:off x="448274" y="3118104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C493BD98-FEE8-C11F-208C-22ABE129F206}"/>
              </a:ext>
            </a:extLst>
          </p:cNvPr>
          <p:cNvSpPr/>
          <p:nvPr/>
        </p:nvSpPr>
        <p:spPr>
          <a:xfrm>
            <a:off x="448274" y="3118104"/>
            <a:ext cx="54864" cy="658368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33F5954D-E178-8E3C-E473-9ECA5F704812}"/>
              </a:ext>
            </a:extLst>
          </p:cNvPr>
          <p:cNvSpPr/>
          <p:nvPr/>
        </p:nvSpPr>
        <p:spPr>
          <a:xfrm>
            <a:off x="612866" y="31729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5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C198D08-F73E-4ED1-825C-F15246005C09}"/>
              </a:ext>
            </a:extLst>
          </p:cNvPr>
          <p:cNvSpPr/>
          <p:nvPr/>
        </p:nvSpPr>
        <p:spPr>
          <a:xfrm>
            <a:off x="612866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(Random Forest / Extra Trees), XGBoost</a:t>
            </a:r>
            <a:endParaRPr lang="en-US" sz="95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A866C3CA-04FB-549C-60FE-9509CB2C9076}"/>
              </a:ext>
            </a:extLst>
          </p:cNvPr>
          <p:cNvSpPr/>
          <p:nvPr/>
        </p:nvSpPr>
        <p:spPr>
          <a:xfrm>
            <a:off x="448274" y="3867912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DBE4234A-CE4D-8948-ED6D-D0ECD5226FA8}"/>
              </a:ext>
            </a:extLst>
          </p:cNvPr>
          <p:cNvSpPr/>
          <p:nvPr/>
        </p:nvSpPr>
        <p:spPr>
          <a:xfrm>
            <a:off x="448274" y="3867912"/>
            <a:ext cx="54864" cy="658368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4553A1FF-0F3F-ECDE-4073-94934FBF50A1}"/>
              </a:ext>
            </a:extLst>
          </p:cNvPr>
          <p:cNvSpPr/>
          <p:nvPr/>
        </p:nvSpPr>
        <p:spPr>
          <a:xfrm>
            <a:off x="612866" y="39227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5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DD884E07-0567-A65F-0FCB-B35FBF70F895}"/>
              </a:ext>
            </a:extLst>
          </p:cNvPr>
          <p:cNvSpPr/>
          <p:nvPr/>
        </p:nvSpPr>
        <p:spPr>
          <a:xfrm>
            <a:off x="612866" y="4133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deployed on Render / Railway</a:t>
            </a:r>
            <a:endParaRPr lang="en-US" sz="95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DCABFF39-A6EC-1E09-80C8-0169E75C9FA2}"/>
              </a:ext>
            </a:extLst>
          </p:cNvPr>
          <p:cNvSpPr/>
          <p:nvPr/>
        </p:nvSpPr>
        <p:spPr>
          <a:xfrm>
            <a:off x="448274" y="46177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9293DD87-2BB7-BA17-F951-B0A6382E3AED}"/>
              </a:ext>
            </a:extLst>
          </p:cNvPr>
          <p:cNvSpPr/>
          <p:nvPr/>
        </p:nvSpPr>
        <p:spPr>
          <a:xfrm>
            <a:off x="448274" y="4617720"/>
            <a:ext cx="54864" cy="658368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0CBD11FD-41B5-D368-7D56-8AE720ADC8A9}"/>
              </a:ext>
            </a:extLst>
          </p:cNvPr>
          <p:cNvSpPr/>
          <p:nvPr/>
        </p:nvSpPr>
        <p:spPr>
          <a:xfrm>
            <a:off x="612866" y="46725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D9E867CE-6038-0750-D399-0FECBC892056}"/>
              </a:ext>
            </a:extLst>
          </p:cNvPr>
          <p:cNvSpPr/>
          <p:nvPr/>
        </p:nvSpPr>
        <p:spPr>
          <a:xfrm>
            <a:off x="612866" y="4882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Leaflet, deployed on Hostinger</a:t>
            </a:r>
            <a:endParaRPr lang="en-US" sz="95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40005369-B5FF-E033-05BB-E8C884697CC6}"/>
              </a:ext>
            </a:extLst>
          </p:cNvPr>
          <p:cNvSpPr/>
          <p:nvPr/>
        </p:nvSpPr>
        <p:spPr>
          <a:xfrm>
            <a:off x="448274" y="5367528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DE54644D-E11A-F059-9A47-F4CF4D9F9CB7}"/>
              </a:ext>
            </a:extLst>
          </p:cNvPr>
          <p:cNvSpPr/>
          <p:nvPr/>
        </p:nvSpPr>
        <p:spPr>
          <a:xfrm>
            <a:off x="448274" y="5367528"/>
            <a:ext cx="54864" cy="658368"/>
          </a:xfrm>
          <a:prstGeom prst="rect">
            <a:avLst/>
          </a:prstGeom>
          <a:solidFill>
            <a:srgbClr val="F26A21"/>
          </a:solidFill>
          <a:ln/>
        </p:spPr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ACD614F9-0D88-105D-EDE7-360451732808}"/>
              </a:ext>
            </a:extLst>
          </p:cNvPr>
          <p:cNvSpPr/>
          <p:nvPr/>
        </p:nvSpPr>
        <p:spPr>
          <a:xfrm>
            <a:off x="612866" y="54223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EEDFE9B4-C389-088F-B177-0BDEFB8C9308}"/>
              </a:ext>
            </a:extLst>
          </p:cNvPr>
          <p:cNvSpPr/>
          <p:nvPr/>
        </p:nvSpPr>
        <p:spPr>
          <a:xfrm>
            <a:off x="612866" y="5632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/ CSV — prototype scale, no Kafka/Spark needed</a:t>
            </a:r>
            <a:endParaRPr lang="en-US" sz="95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530C5E74-CAE9-602D-F646-DA927828CBC7}"/>
              </a:ext>
            </a:extLst>
          </p:cNvPr>
          <p:cNvSpPr/>
          <p:nvPr/>
        </p:nvSpPr>
        <p:spPr>
          <a:xfrm>
            <a:off x="4023360" y="132636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FLOW (prototype pipeline)</a:t>
            </a:r>
            <a:endParaRPr lang="en-US" sz="125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D3C4E5CB-E1C0-7C6F-B672-CD44F2C6ED40}"/>
              </a:ext>
            </a:extLst>
          </p:cNvPr>
          <p:cNvSpPr/>
          <p:nvPr/>
        </p:nvSpPr>
        <p:spPr>
          <a:xfrm>
            <a:off x="4023360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1EA94A85-0703-1056-FC09-72AE213EC8DF}"/>
              </a:ext>
            </a:extLst>
          </p:cNvPr>
          <p:cNvSpPr/>
          <p:nvPr/>
        </p:nvSpPr>
        <p:spPr>
          <a:xfrm>
            <a:off x="4059936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(NTES / apps)</a:t>
            </a:r>
            <a:endParaRPr lang="en-US" sz="83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A1880B2B-EDF6-4205-EE7E-E6B27C344B5B}"/>
              </a:ext>
            </a:extLst>
          </p:cNvPr>
          <p:cNvSpPr/>
          <p:nvPr/>
        </p:nvSpPr>
        <p:spPr>
          <a:xfrm>
            <a:off x="4919472" y="1783566"/>
            <a:ext cx="8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6A835851-5AD1-9FA9-5EAA-54198A8882B0}"/>
              </a:ext>
            </a:extLst>
          </p:cNvPr>
          <p:cNvSpPr/>
          <p:nvPr/>
        </p:nvSpPr>
        <p:spPr>
          <a:xfrm>
            <a:off x="5005687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B52CA04B-277E-7582-6CB3-FD588518EA6A}"/>
              </a:ext>
            </a:extLst>
          </p:cNvPr>
          <p:cNvSpPr/>
          <p:nvPr/>
        </p:nvSpPr>
        <p:spPr>
          <a:xfrm>
            <a:off x="5042263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rows</a:t>
            </a:r>
            <a:endParaRPr lang="en-US" sz="830" dirty="0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79481BAC-B5ED-6C48-5CED-50C8FD4AEF21}"/>
              </a:ext>
            </a:extLst>
          </p:cNvPr>
          <p:cNvSpPr/>
          <p:nvPr/>
        </p:nvSpPr>
        <p:spPr>
          <a:xfrm>
            <a:off x="5901799" y="1783566"/>
            <a:ext cx="8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C1D18641-21F5-B112-3FB8-B5D6D0D68E56}"/>
              </a:ext>
            </a:extLst>
          </p:cNvPr>
          <p:cNvSpPr/>
          <p:nvPr/>
        </p:nvSpPr>
        <p:spPr>
          <a:xfrm>
            <a:off x="5988014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C30D4316-406B-D450-06C0-39F4E6539907}"/>
              </a:ext>
            </a:extLst>
          </p:cNvPr>
          <p:cNvSpPr/>
          <p:nvPr/>
        </p:nvSpPr>
        <p:spPr>
          <a:xfrm>
            <a:off x="6024590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30" dirty="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AA21BCC6-F5C1-472D-F8E6-ED12C559FCAC}"/>
              </a:ext>
            </a:extLst>
          </p:cNvPr>
          <p:cNvSpPr/>
          <p:nvPr/>
        </p:nvSpPr>
        <p:spPr>
          <a:xfrm>
            <a:off x="6884126" y="1783566"/>
            <a:ext cx="8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726D8D9C-1187-C139-961B-CB9730DC671D}"/>
              </a:ext>
            </a:extLst>
          </p:cNvPr>
          <p:cNvSpPr/>
          <p:nvPr/>
        </p:nvSpPr>
        <p:spPr>
          <a:xfrm>
            <a:off x="6970341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178D2F09-F89B-5D1D-E2F2-A454EF324FEB}"/>
              </a:ext>
            </a:extLst>
          </p:cNvPr>
          <p:cNvSpPr/>
          <p:nvPr/>
        </p:nvSpPr>
        <p:spPr>
          <a:xfrm>
            <a:off x="7006917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Join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OSM geometry</a:t>
            </a:r>
            <a:endParaRPr lang="en-US" sz="830" dirty="0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1EF378C5-E24F-01C9-6DDB-B2B2BC93E574}"/>
              </a:ext>
            </a:extLst>
          </p:cNvPr>
          <p:cNvSpPr/>
          <p:nvPr/>
        </p:nvSpPr>
        <p:spPr>
          <a:xfrm>
            <a:off x="7866453" y="1783566"/>
            <a:ext cx="8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0">
            <a:extLst>
              <a:ext uri="{FF2B5EF4-FFF2-40B4-BE49-F238E27FC236}">
                <a16:creationId xmlns:a16="http://schemas.microsoft.com/office/drawing/2014/main" id="{72157408-79EB-9B0E-DDA0-832E6E3C5E78}"/>
              </a:ext>
            </a:extLst>
          </p:cNvPr>
          <p:cNvSpPr/>
          <p:nvPr/>
        </p:nvSpPr>
        <p:spPr>
          <a:xfrm>
            <a:off x="7952667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49" name="Text 41">
            <a:extLst>
              <a:ext uri="{FF2B5EF4-FFF2-40B4-BE49-F238E27FC236}">
                <a16:creationId xmlns:a16="http://schemas.microsoft.com/office/drawing/2014/main" id="{BD32B265-5463-17F4-C1AA-9F3201001502}"/>
              </a:ext>
            </a:extLst>
          </p:cNvPr>
          <p:cNvSpPr/>
          <p:nvPr/>
        </p:nvSpPr>
        <p:spPr>
          <a:xfrm>
            <a:off x="7989243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30" dirty="0"/>
          </a:p>
        </p:txBody>
      </p:sp>
      <p:sp>
        <p:nvSpPr>
          <p:cNvPr id="50" name="Text 42">
            <a:extLst>
              <a:ext uri="{FF2B5EF4-FFF2-40B4-BE49-F238E27FC236}">
                <a16:creationId xmlns:a16="http://schemas.microsoft.com/office/drawing/2014/main" id="{54EAC146-1949-E69B-2328-0E959AFF5EF4}"/>
              </a:ext>
            </a:extLst>
          </p:cNvPr>
          <p:cNvSpPr/>
          <p:nvPr/>
        </p:nvSpPr>
        <p:spPr>
          <a:xfrm>
            <a:off x="8848779" y="1783566"/>
            <a:ext cx="8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BE92E3E3-543C-23A4-4E06-C605A7ACB33B}"/>
              </a:ext>
            </a:extLst>
          </p:cNvPr>
          <p:cNvSpPr/>
          <p:nvPr/>
        </p:nvSpPr>
        <p:spPr>
          <a:xfrm>
            <a:off x="8934994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0B2E59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3EDCB651-0D68-B217-93F5-9A21D43F7CF9}"/>
              </a:ext>
            </a:extLst>
          </p:cNvPr>
          <p:cNvSpPr/>
          <p:nvPr/>
        </p:nvSpPr>
        <p:spPr>
          <a:xfrm>
            <a:off x="8971570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XGBoost</a:t>
            </a:r>
            <a:endParaRPr lang="en-US" sz="830" dirty="0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43F9A825-B50A-C839-04BA-BB6F145B82C2}"/>
              </a:ext>
            </a:extLst>
          </p:cNvPr>
          <p:cNvSpPr/>
          <p:nvPr/>
        </p:nvSpPr>
        <p:spPr>
          <a:xfrm>
            <a:off x="9831106" y="1783566"/>
            <a:ext cx="8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46">
            <a:extLst>
              <a:ext uri="{FF2B5EF4-FFF2-40B4-BE49-F238E27FC236}">
                <a16:creationId xmlns:a16="http://schemas.microsoft.com/office/drawing/2014/main" id="{978867FE-CCBE-2793-AD36-F069784E8D23}"/>
              </a:ext>
            </a:extLst>
          </p:cNvPr>
          <p:cNvSpPr/>
          <p:nvPr/>
        </p:nvSpPr>
        <p:spPr>
          <a:xfrm>
            <a:off x="9917321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2C635A7F-944B-CCC3-0806-484B81A33E3B}"/>
              </a:ext>
            </a:extLst>
          </p:cNvPr>
          <p:cNvSpPr/>
          <p:nvPr/>
        </p:nvSpPr>
        <p:spPr>
          <a:xfrm>
            <a:off x="9953897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/explain</a:t>
            </a:r>
            <a:endParaRPr lang="en-US" sz="830" dirty="0"/>
          </a:p>
        </p:txBody>
      </p:sp>
      <p:sp>
        <p:nvSpPr>
          <p:cNvPr id="56" name="Text 48">
            <a:extLst>
              <a:ext uri="{FF2B5EF4-FFF2-40B4-BE49-F238E27FC236}">
                <a16:creationId xmlns:a16="http://schemas.microsoft.com/office/drawing/2014/main" id="{C10DDCAD-3FD7-2817-AD30-B3C94A9DDE4F}"/>
              </a:ext>
            </a:extLst>
          </p:cNvPr>
          <p:cNvSpPr/>
          <p:nvPr/>
        </p:nvSpPr>
        <p:spPr>
          <a:xfrm>
            <a:off x="10813433" y="1783566"/>
            <a:ext cx="8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6C9124EA-034D-B9DD-4C14-C1B7E19C7DB7}"/>
              </a:ext>
            </a:extLst>
          </p:cNvPr>
          <p:cNvSpPr/>
          <p:nvPr/>
        </p:nvSpPr>
        <p:spPr>
          <a:xfrm>
            <a:off x="10899648" y="1783566"/>
            <a:ext cx="89611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B2E59"/>
            </a:solidFill>
            <a:prstDash val="solid"/>
          </a:ln>
        </p:spPr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AAAB0DF8-7295-4101-9DD7-1383412EBF05}"/>
              </a:ext>
            </a:extLst>
          </p:cNvPr>
          <p:cNvSpPr/>
          <p:nvPr/>
        </p:nvSpPr>
        <p:spPr>
          <a:xfrm>
            <a:off x="10936224" y="1783566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</a:t>
            </a:r>
            <a:endParaRPr lang="en-US" sz="8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30" dirty="0"/>
          </a:p>
        </p:txBody>
      </p:sp>
      <p:sp>
        <p:nvSpPr>
          <p:cNvPr id="59" name="Shape 51">
            <a:extLst>
              <a:ext uri="{FF2B5EF4-FFF2-40B4-BE49-F238E27FC236}">
                <a16:creationId xmlns:a16="http://schemas.microsoft.com/office/drawing/2014/main" id="{55F13FA9-56B4-C5A2-751A-2DDB8D983D70}"/>
              </a:ext>
            </a:extLst>
          </p:cNvPr>
          <p:cNvSpPr/>
          <p:nvPr/>
        </p:nvSpPr>
        <p:spPr>
          <a:xfrm>
            <a:off x="5988014" y="2972286"/>
            <a:ext cx="1878439" cy="640080"/>
          </a:xfrm>
          <a:prstGeom prst="roundRect">
            <a:avLst>
              <a:gd name="adj" fmla="val 8571"/>
            </a:avLst>
          </a:prstGeom>
          <a:solidFill>
            <a:srgbClr val="D8E4F2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60" name="Text 52">
            <a:extLst>
              <a:ext uri="{FF2B5EF4-FFF2-40B4-BE49-F238E27FC236}">
                <a16:creationId xmlns:a16="http://schemas.microsoft.com/office/drawing/2014/main" id="{F05E056B-41F6-49B0-EFEF-DAC84B1BA11F}"/>
              </a:ext>
            </a:extLst>
          </p:cNvPr>
          <p:cNvSpPr/>
          <p:nvPr/>
        </p:nvSpPr>
        <p:spPr>
          <a:xfrm>
            <a:off x="6061166" y="2972286"/>
            <a:ext cx="1732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08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Precedence-Inference Pipeline (weekly)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08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pickup → baseline → systemic filter → priority cross-check → 6/10 repetition rule</a:t>
            </a:r>
            <a:endParaRPr lang="en-US" sz="800" dirty="0"/>
          </a:p>
        </p:txBody>
      </p:sp>
      <p:sp>
        <p:nvSpPr>
          <p:cNvPr id="61" name="Shape 53">
            <a:extLst>
              <a:ext uri="{FF2B5EF4-FFF2-40B4-BE49-F238E27FC236}">
                <a16:creationId xmlns:a16="http://schemas.microsoft.com/office/drawing/2014/main" id="{38356560-A344-C336-D4AE-4125213DD7F6}"/>
              </a:ext>
            </a:extLst>
          </p:cNvPr>
          <p:cNvSpPr/>
          <p:nvPr/>
        </p:nvSpPr>
        <p:spPr>
          <a:xfrm>
            <a:off x="6927233" y="2652246"/>
            <a:ext cx="0" cy="320040"/>
          </a:xfrm>
          <a:prstGeom prst="line">
            <a:avLst/>
          </a:prstGeom>
          <a:noFill/>
          <a:ln w="15875">
            <a:solidFill>
              <a:srgbClr val="0B2E59"/>
            </a:solidFill>
            <a:prstDash val="dash"/>
            <a:tailEnd type="triangle"/>
          </a:ln>
        </p:spPr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9BEB63AF-5D59-200C-AC94-9ABF673499AA}"/>
              </a:ext>
            </a:extLst>
          </p:cNvPr>
          <p:cNvSpPr/>
          <p:nvPr/>
        </p:nvSpPr>
        <p:spPr>
          <a:xfrm>
            <a:off x="4023360" y="368551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“precedence risk” features into Model B, at the feature-engineering step</a:t>
            </a:r>
            <a:endParaRPr lang="en-US" sz="900" dirty="0"/>
          </a:p>
        </p:txBody>
      </p:sp>
      <p:sp>
        <p:nvSpPr>
          <p:cNvPr id="17408" name="Text 56">
            <a:extLst>
              <a:ext uri="{FF2B5EF4-FFF2-40B4-BE49-F238E27FC236}">
                <a16:creationId xmlns:a16="http://schemas.microsoft.com/office/drawing/2014/main" id="{B9BDC4F6-6D18-E30F-5879-E80607F7BC97}"/>
              </a:ext>
            </a:extLst>
          </p:cNvPr>
          <p:cNvSpPr/>
          <p:nvPr/>
        </p:nvSpPr>
        <p:spPr>
          <a:xfrm>
            <a:off x="4023360" y="402384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actual arrival time → new labeled row → next nightly/weekly retrain cycle</a:t>
            </a:r>
            <a:endParaRPr lang="en-US" sz="900" dirty="0"/>
          </a:p>
        </p:txBody>
      </p:sp>
      <p:sp>
        <p:nvSpPr>
          <p:cNvPr id="17411" name="Text 57">
            <a:extLst>
              <a:ext uri="{FF2B5EF4-FFF2-40B4-BE49-F238E27FC236}">
                <a16:creationId xmlns:a16="http://schemas.microsoft.com/office/drawing/2014/main" id="{04895F3B-63DA-71B5-1838-E095B80966A1}"/>
              </a:ext>
            </a:extLst>
          </p:cNvPr>
          <p:cNvSpPr/>
          <p:nvPr/>
        </p:nvSpPr>
        <p:spPr>
          <a:xfrm>
            <a:off x="4059936" y="4374366"/>
            <a:ext cx="7370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1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step-by-step data transformations for every stage above are documented in “IR ETA Prototype Technical Flow” in the GitHub repo (Slide 6).</a:t>
            </a:r>
            <a:endParaRPr lang="en-US" sz="950" dirty="0">
              <a:solidFill>
                <a:srgbClr val="010000"/>
              </a:solidFill>
            </a:endParaRPr>
          </a:p>
        </p:txBody>
      </p:sp>
      <p:sp>
        <p:nvSpPr>
          <p:cNvPr id="90001" name="Worked Example Header"/>
          <p:cNvSpPr/>
          <p:nvPr/>
        </p:nvSpPr>
        <p:spPr>
          <a:xfrm>
            <a:off x="4030980" y="4700000"/>
            <a:ext cx="7370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ONE PREDICTION REQUEST</a:t>
            </a:r>
            <a:endParaRPr lang="en-US" sz="1150" dirty="0"/>
          </a:p>
        </p:txBody>
      </p:sp>
      <p:sp>
        <p:nvSpPr>
          <p:cNvPr id="90002" name="Worked Example Body"/>
          <p:cNvSpPr/>
          <p:nvPr/>
        </p:nvSpPr>
        <p:spPr>
          <a:xfrm>
            <a:off x="4030980" y="4990000"/>
            <a:ext cx="7370064" cy="1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— scraper polls NTES + 2 apps for train 12345; reconciled to one row with source_agreement_score = 0.95.</a:t>
            </a: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10:17 — passenger opens the dashboard; React calls GET /predict?train_no=12345.</a:t>
            </a: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ETA 14:32, confidence band 14:24–14:41, reason "precedence risk: SF Express priority crossing".</a:t>
            </a:r>
            <a:endParaRPr lang="en-US" sz="950" dirty="0"/>
          </a:p>
        </p:txBody>
      </p:sp>
      <p:sp>
        <p:nvSpPr>
          <p:cNvPr id="17412" name="Text 58">
            <a:extLst>
              <a:ext uri="{FF2B5EF4-FFF2-40B4-BE49-F238E27FC236}">
                <a16:creationId xmlns:a16="http://schemas.microsoft.com/office/drawing/2014/main" id="{C3F492DB-D68C-67F2-CA5C-D3DADEBDC781}"/>
              </a:ext>
            </a:extLst>
          </p:cNvPr>
          <p:cNvSpPr/>
          <p:nvPr/>
        </p:nvSpPr>
        <p:spPr>
          <a:xfrm>
            <a:off x="457200" y="703173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SteamX  |  PS 26028  |  Dynamic ETA Forecast for Coaching Trains</a:t>
            </a:r>
            <a:endParaRPr lang="en-US" sz="900" dirty="0"/>
          </a:p>
        </p:txBody>
      </p:sp>
      <p:sp>
        <p:nvSpPr>
          <p:cNvPr id="17413" name="Text 59">
            <a:extLst>
              <a:ext uri="{FF2B5EF4-FFF2-40B4-BE49-F238E27FC236}">
                <a16:creationId xmlns:a16="http://schemas.microsoft.com/office/drawing/2014/main" id="{7E6B04F2-E00D-9328-0EFC-4F68C8BA08D2}"/>
              </a:ext>
            </a:extLst>
          </p:cNvPr>
          <p:cNvSpPr/>
          <p:nvPr/>
        </p:nvSpPr>
        <p:spPr>
          <a:xfrm>
            <a:off x="11430000" y="70317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C8C8DE8-AE1A-E29B-B780-0F37959226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SteamX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262814E-E4FC-D367-FA4A-C316659F5C79}"/>
              </a:ext>
            </a:extLst>
          </p:cNvPr>
          <p:cNvGrpSpPr/>
          <p:nvPr/>
        </p:nvGrpSpPr>
        <p:grpSpPr>
          <a:xfrm>
            <a:off x="335280" y="1359451"/>
            <a:ext cx="11247120" cy="4498848"/>
            <a:chOff x="457200" y="1627632"/>
            <a:chExt cx="11247120" cy="449884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6C350F9A-7047-AE9A-561C-CC67070BE35B}"/>
                </a:ext>
              </a:extLst>
            </p:cNvPr>
            <p:cNvSpPr/>
            <p:nvPr/>
          </p:nvSpPr>
          <p:spPr>
            <a:xfrm>
              <a:off x="457200" y="1627632"/>
              <a:ext cx="11247120" cy="1234440"/>
            </a:xfrm>
            <a:prstGeom prst="roundRect">
              <a:avLst>
                <a:gd name="adj" fmla="val 5185"/>
              </a:avLst>
            </a:prstGeom>
            <a:solidFill>
              <a:srgbClr val="F7F9FC"/>
            </a:solidFill>
            <a:ln/>
          </p:spPr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A414C8BC-CADF-1F2E-9321-46067346DF9E}"/>
                </a:ext>
              </a:extLst>
            </p:cNvPr>
            <p:cNvSpPr/>
            <p:nvPr/>
          </p:nvSpPr>
          <p:spPr>
            <a:xfrm>
              <a:off x="731520" y="1755648"/>
              <a:ext cx="10698480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0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historical datasets already in hand — model can be trained before any new data source is finished.</a:t>
              </a:r>
              <a:endParaRPr lang="en-US" sz="1150" dirty="0"/>
            </a:p>
            <a:p>
              <a:pPr marL="342900" indent="-342900">
                <a:lnSpc>
                  <a:spcPct val="10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Scraped tracking + OSM geometry are a working, free stand-in for CRIS/ISRO GPS until access is granted — same pipeline, no rebuild later.</a:t>
              </a:r>
              <a:endParaRPr lang="en-US" sz="1150" dirty="0"/>
            </a:p>
            <a:p>
              <a:pPr marL="342900" indent="-342900">
                <a:lnSpc>
                  <a:spcPct val="10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Free-tier infra (VPS cron, Render/Railway, Hostinger) is enough at prototype/demo scale.</a:t>
              </a:r>
              <a:endParaRPr lang="en-US" sz="1150" dirty="0"/>
            </a:p>
            <a:p>
              <a:pPr marL="342900" indent="-342900">
                <a:lnSpc>
                  <a:spcPct val="10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Time-based (not random) train/test split keeps validation realistic for a time-series problem.</a:t>
              </a:r>
              <a:endParaRPr lang="en-US" sz="1150" dirty="0"/>
            </a:p>
          </p:txBody>
        </p:sp>
        <p:sp>
          <p:nvSpPr>
            <p:cNvPr id="5" name="Text 5">
              <a:extLst>
                <a:ext uri="{FF2B5EF4-FFF2-40B4-BE49-F238E27FC236}">
                  <a16:creationId xmlns:a16="http://schemas.microsoft.com/office/drawing/2014/main" id="{49F581EA-42A6-DB16-3623-BB92A9FCC977}"/>
                </a:ext>
              </a:extLst>
            </p:cNvPr>
            <p:cNvSpPr/>
            <p:nvPr/>
          </p:nvSpPr>
          <p:spPr>
            <a:xfrm>
              <a:off x="457200" y="2999232"/>
              <a:ext cx="5394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kern="0" spc="100" dirty="0">
                  <a:solidFill>
                    <a:srgbClr val="B338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CHALLENGES &amp; RISKS</a:t>
              </a:r>
              <a:endParaRPr lang="en-US" sz="125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1A10564D-F3F6-A758-732E-C406600DCC8F}"/>
                </a:ext>
              </a:extLst>
            </p:cNvPr>
            <p:cNvSpPr/>
            <p:nvPr/>
          </p:nvSpPr>
          <p:spPr>
            <a:xfrm>
              <a:off x="6263640" y="2999232"/>
              <a:ext cx="5440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kern="0" spc="100" dirty="0">
                  <a:solidFill>
                    <a:srgbClr val="2E7D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MITIGATION STRATEGY</a:t>
              </a:r>
              <a:endParaRPr lang="en-US" sz="1250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DEA9069F-3B42-5379-19FC-267A34F4BADE}"/>
                </a:ext>
              </a:extLst>
            </p:cNvPr>
            <p:cNvSpPr/>
            <p:nvPr/>
          </p:nvSpPr>
          <p:spPr>
            <a:xfrm>
              <a:off x="457200" y="3310128"/>
              <a:ext cx="539496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E3B0A8"/>
              </a:solidFill>
              <a:prstDash val="solid"/>
            </a:ln>
          </p:spPr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EF6887B3-4C7C-6E26-77C3-3CF346743CF7}"/>
                </a:ext>
              </a:extLst>
            </p:cNvPr>
            <p:cNvSpPr/>
            <p:nvPr/>
          </p:nvSpPr>
          <p:spPr>
            <a:xfrm>
              <a:off x="621792" y="3346704"/>
              <a:ext cx="5074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official real-time GPS yet — CRIS/ISRO RTIS access is pending approval.</a:t>
              </a:r>
              <a:endParaRPr lang="en-US" sz="930" dirty="0"/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8AE60185-8F61-DFD0-3D1C-7D4B10F7BEDB}"/>
                </a:ext>
              </a:extLst>
            </p:cNvPr>
            <p:cNvSpPr/>
            <p:nvPr/>
          </p:nvSpPr>
          <p:spPr>
            <a:xfrm>
              <a:off x="6263640" y="3310128"/>
              <a:ext cx="544068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A9CDBA"/>
              </a:solidFill>
              <a:prstDash val="solid"/>
            </a:ln>
          </p:spPr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9A6931F7-75E2-7B7C-6F5A-61A093B03F13}"/>
                </a:ext>
              </a:extLst>
            </p:cNvPr>
            <p:cNvSpPr/>
            <p:nvPr/>
          </p:nvSpPr>
          <p:spPr>
            <a:xfrm>
              <a:off x="6428232" y="3346704"/>
              <a:ext cx="5120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Stage-1 source-abstraction: swap scraper → CRIS feed with zero change to Stages 2–11 once granted.</a:t>
              </a:r>
              <a:endParaRPr lang="en-US" sz="930" dirty="0"/>
            </a:p>
          </p:txBody>
        </p:sp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68DEDB3F-9517-ED1D-10B5-9667ED4B4D3D}"/>
                </a:ext>
              </a:extLst>
            </p:cNvPr>
            <p:cNvSpPr/>
            <p:nvPr/>
          </p:nvSpPr>
          <p:spPr>
            <a:xfrm>
              <a:off x="457200" y="3886200"/>
              <a:ext cx="539496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E3B0A8"/>
              </a:solidFill>
              <a:prstDash val="solid"/>
            </a:ln>
          </p:spPr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CE0ABA0E-1201-41DF-C53D-119981526A0B}"/>
                </a:ext>
              </a:extLst>
            </p:cNvPr>
            <p:cNvSpPr/>
            <p:nvPr/>
          </p:nvSpPr>
          <p:spPr>
            <a:xfrm>
              <a:off x="621792" y="3922776"/>
              <a:ext cx="5074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Scraped NTES/app data can disagree or go stale (rate limits, site changes).</a:t>
              </a:r>
              <a:endParaRPr lang="en-US" sz="930" dirty="0"/>
            </a:p>
          </p:txBody>
        </p:sp>
        <p:sp>
          <p:nvSpPr>
            <p:cNvPr id="18" name="Shape 13">
              <a:extLst>
                <a:ext uri="{FF2B5EF4-FFF2-40B4-BE49-F238E27FC236}">
                  <a16:creationId xmlns:a16="http://schemas.microsoft.com/office/drawing/2014/main" id="{642CFA78-A4C3-838D-64BF-42ADFE0C48CB}"/>
                </a:ext>
              </a:extLst>
            </p:cNvPr>
            <p:cNvSpPr/>
            <p:nvPr/>
          </p:nvSpPr>
          <p:spPr>
            <a:xfrm>
              <a:off x="6263640" y="3886200"/>
              <a:ext cx="544068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A9CDBA"/>
              </a:solidFill>
              <a:prstDash val="solid"/>
            </a:ln>
          </p:spPr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999D85B2-245E-1931-77EE-0B81A40433A0}"/>
                </a:ext>
              </a:extLst>
            </p:cNvPr>
            <p:cNvSpPr/>
            <p:nvPr/>
          </p:nvSpPr>
          <p:spPr>
            <a:xfrm>
              <a:off x="6428232" y="3922776"/>
              <a:ext cx="5120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Multi-source reconciliation with a source_agreement_score; low-agreement snapshots are flagged, never silently trusted.</a:t>
              </a:r>
              <a:endParaRPr lang="en-US" sz="930" dirty="0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3E489378-31F8-4429-02C6-1B34080E44A9}"/>
                </a:ext>
              </a:extLst>
            </p:cNvPr>
            <p:cNvSpPr/>
            <p:nvPr/>
          </p:nvSpPr>
          <p:spPr>
            <a:xfrm>
              <a:off x="457200" y="4462272"/>
              <a:ext cx="539496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E3B0A8"/>
              </a:solidFill>
              <a:prstDash val="solid"/>
            </a:ln>
          </p:spPr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0BED9FD8-34C0-8B0E-E18A-DA13B7AB77B0}"/>
                </a:ext>
              </a:extLst>
            </p:cNvPr>
            <p:cNvSpPr/>
            <p:nvPr/>
          </p:nvSpPr>
          <p:spPr>
            <a:xfrm>
              <a:off x="621792" y="4498848"/>
              <a:ext cx="5074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precedence isn’t directly observable — no official priority-conflict feed.</a:t>
              </a:r>
              <a:endParaRPr lang="en-US" sz="930" dirty="0"/>
            </a:p>
          </p:txBody>
        </p:sp>
        <p:sp>
          <p:nvSpPr>
            <p:cNvPr id="22" name="Shape 17">
              <a:extLst>
                <a:ext uri="{FF2B5EF4-FFF2-40B4-BE49-F238E27FC236}">
                  <a16:creationId xmlns:a16="http://schemas.microsoft.com/office/drawing/2014/main" id="{96CE5413-F023-7005-2CD1-48F5552CD6F0}"/>
                </a:ext>
              </a:extLst>
            </p:cNvPr>
            <p:cNvSpPr/>
            <p:nvPr/>
          </p:nvSpPr>
          <p:spPr>
            <a:xfrm>
              <a:off x="6263640" y="4462272"/>
              <a:ext cx="544068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A9CDBA"/>
              </a:solidFill>
              <a:prstDash val="solid"/>
            </a:ln>
          </p:spPr>
        </p:sp>
        <p:sp>
          <p:nvSpPr>
            <p:cNvPr id="23" name="Text 18">
              <a:extLst>
                <a:ext uri="{FF2B5EF4-FFF2-40B4-BE49-F238E27FC236}">
                  <a16:creationId xmlns:a16="http://schemas.microsoft.com/office/drawing/2014/main" id="{45F5A24A-B99E-6594-313F-23E54F6F1C33}"/>
                </a:ext>
              </a:extLst>
            </p:cNvPr>
            <p:cNvSpPr/>
            <p:nvPr/>
          </p:nvSpPr>
          <p:spPr>
            <a:xfrm>
              <a:off x="6428232" y="4498848"/>
              <a:ext cx="5120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Infer it: systemic-delay filter + priority cross-check + require 6/10 repeated crossings, plus manual spot-checks vs. forums/RTI.</a:t>
              </a:r>
              <a:endParaRPr lang="en-US" sz="930" dirty="0"/>
            </a:p>
          </p:txBody>
        </p:sp>
        <p:sp>
          <p:nvSpPr>
            <p:cNvPr id="24" name="Shape 19">
              <a:extLst>
                <a:ext uri="{FF2B5EF4-FFF2-40B4-BE49-F238E27FC236}">
                  <a16:creationId xmlns:a16="http://schemas.microsoft.com/office/drawing/2014/main" id="{4E6834D7-413F-FED8-A9D2-1D695A24C276}"/>
                </a:ext>
              </a:extLst>
            </p:cNvPr>
            <p:cNvSpPr/>
            <p:nvPr/>
          </p:nvSpPr>
          <p:spPr>
            <a:xfrm>
              <a:off x="457200" y="5038344"/>
              <a:ext cx="539496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E3B0A8"/>
              </a:solidFill>
              <a:prstDash val="solid"/>
            </a:ln>
          </p:spPr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CDDF7B05-19EC-4DFB-D1C9-9DF59338D852}"/>
                </a:ext>
              </a:extLst>
            </p:cNvPr>
            <p:cNvSpPr/>
            <p:nvPr/>
          </p:nvSpPr>
          <p:spPr>
            <a:xfrm>
              <a:off x="621792" y="5074920"/>
              <a:ext cx="5074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Weather (IMD) and speed-restriction (TSR/PSR) data sources aren’t built yet.</a:t>
              </a:r>
              <a:endParaRPr lang="en-US" sz="930" dirty="0"/>
            </a:p>
          </p:txBody>
        </p:sp>
        <p:sp>
          <p:nvSpPr>
            <p:cNvPr id="26" name="Shape 21">
              <a:extLst>
                <a:ext uri="{FF2B5EF4-FFF2-40B4-BE49-F238E27FC236}">
                  <a16:creationId xmlns:a16="http://schemas.microsoft.com/office/drawing/2014/main" id="{A64BBD67-5F39-2230-5237-C4BCA590D2DF}"/>
                </a:ext>
              </a:extLst>
            </p:cNvPr>
            <p:cNvSpPr/>
            <p:nvPr/>
          </p:nvSpPr>
          <p:spPr>
            <a:xfrm>
              <a:off x="6263640" y="5038344"/>
              <a:ext cx="544068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A9CDBA"/>
              </a:solidFill>
              <a:prstDash val="solid"/>
            </a:ln>
          </p:spPr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28F6FFCA-D867-628A-ECE8-224E5D9D8131}"/>
                </a:ext>
              </a:extLst>
            </p:cNvPr>
            <p:cNvSpPr/>
            <p:nvPr/>
          </p:nvSpPr>
          <p:spPr>
            <a:xfrm>
              <a:off x="6428232" y="5074920"/>
              <a:ext cx="5120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Named and slotted into the same pipeline now; a static seasonal flag stands in until the live feeds are added.</a:t>
              </a:r>
              <a:endParaRPr lang="en-US" sz="930" dirty="0"/>
            </a:p>
          </p:txBody>
        </p:sp>
        <p:sp>
          <p:nvSpPr>
            <p:cNvPr id="28" name="Shape 23">
              <a:extLst>
                <a:ext uri="{FF2B5EF4-FFF2-40B4-BE49-F238E27FC236}">
                  <a16:creationId xmlns:a16="http://schemas.microsoft.com/office/drawing/2014/main" id="{697BF4AD-4F5E-074B-C26A-5CEDA9C1DB2A}"/>
                </a:ext>
              </a:extLst>
            </p:cNvPr>
            <p:cNvSpPr/>
            <p:nvPr/>
          </p:nvSpPr>
          <p:spPr>
            <a:xfrm>
              <a:off x="457200" y="5614416"/>
              <a:ext cx="539496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E3B0A8"/>
              </a:solidFill>
              <a:prstDash val="solid"/>
            </a:ln>
          </p:spPr>
        </p: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C7D1AA9C-4D68-4ED6-77BC-4AE631120FB7}"/>
                </a:ext>
              </a:extLst>
            </p:cNvPr>
            <p:cNvSpPr/>
            <p:nvPr/>
          </p:nvSpPr>
          <p:spPr>
            <a:xfrm>
              <a:off x="621792" y="5650992"/>
              <a:ext cx="50749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demo can fail if the backend is unreachable during judging.</a:t>
              </a:r>
              <a:endParaRPr lang="en-US" sz="930" dirty="0"/>
            </a:p>
          </p:txBody>
        </p:sp>
        <p:sp>
          <p:nvSpPr>
            <p:cNvPr id="30" name="Shape 25">
              <a:extLst>
                <a:ext uri="{FF2B5EF4-FFF2-40B4-BE49-F238E27FC236}">
                  <a16:creationId xmlns:a16="http://schemas.microsoft.com/office/drawing/2014/main" id="{BD00E09F-2822-89D5-90F3-11513AB5B29A}"/>
                </a:ext>
              </a:extLst>
            </p:cNvPr>
            <p:cNvSpPr/>
            <p:nvPr/>
          </p:nvSpPr>
          <p:spPr>
            <a:xfrm>
              <a:off x="6263640" y="5614416"/>
              <a:ext cx="5440680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A9CDBA"/>
              </a:solidFill>
              <a:prstDash val="solid"/>
            </a:ln>
          </p:spPr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E951ED9C-2AFE-E8A1-BDD1-1B3933D90DF3}"/>
                </a:ext>
              </a:extLst>
            </p:cNvPr>
            <p:cNvSpPr/>
            <p:nvPr/>
          </p:nvSpPr>
          <p:spPr>
            <a:xfrm>
              <a:off x="6428232" y="5650992"/>
              <a:ext cx="5120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93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 falls back to a bundled demo-fallback.json so the on-screen demo never visibly breaks.</a:t>
              </a:r>
              <a:endParaRPr lang="en-US" sz="930" dirty="0"/>
            </a:p>
          </p:txBody>
        </p:sp>
      </p:grpSp>
      <p:sp>
        <p:nvSpPr>
          <p:cNvPr id="33" name="Oval 32" descr="Your startup LOGO">
            <a:extLst>
              <a:ext uri="{FF2B5EF4-FFF2-40B4-BE49-F238E27FC236}">
                <a16:creationId xmlns:a16="http://schemas.microsoft.com/office/drawing/2014/main" id="{4BBBF6D4-5AEA-FFEE-882E-C9E4B41ADB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SteamX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EDA0498-1E98-27E9-6143-93BDF9C7013F}"/>
              </a:ext>
            </a:extLst>
          </p:cNvPr>
          <p:cNvGrpSpPr/>
          <p:nvPr/>
        </p:nvGrpSpPr>
        <p:grpSpPr>
          <a:xfrm>
            <a:off x="457200" y="1325880"/>
            <a:ext cx="11247120" cy="4572000"/>
            <a:chOff x="457200" y="1325880"/>
            <a:chExt cx="11247120" cy="4572000"/>
          </a:xfrm>
        </p:grpSpPr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5A4B19D6-06FE-E2C3-D3B1-33BAD6B14D9A}"/>
                </a:ext>
              </a:extLst>
            </p:cNvPr>
            <p:cNvSpPr/>
            <p:nvPr/>
          </p:nvSpPr>
          <p:spPr>
            <a:xfrm>
              <a:off x="457200" y="1325880"/>
              <a:ext cx="11247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kern="0" spc="100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WHO IT HELPS</a:t>
              </a:r>
              <a:endParaRPr lang="en-US" sz="1250" dirty="0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79531E5-AB67-A61A-4BE5-D9356A34F3D3}"/>
                </a:ext>
              </a:extLst>
            </p:cNvPr>
            <p:cNvSpPr/>
            <p:nvPr/>
          </p:nvSpPr>
          <p:spPr>
            <a:xfrm>
              <a:off x="457200" y="1645920"/>
              <a:ext cx="3611880" cy="1143000"/>
            </a:xfrm>
            <a:prstGeom prst="roundRect">
              <a:avLst>
                <a:gd name="adj" fmla="val 5600"/>
              </a:avLst>
            </a:prstGeom>
            <a:solidFill>
              <a:srgbClr val="F7F9FC"/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17D61E9B-ECC0-6407-8D88-33A36E348A85}"/>
                </a:ext>
              </a:extLst>
            </p:cNvPr>
            <p:cNvSpPr/>
            <p:nvPr/>
          </p:nvSpPr>
          <p:spPr>
            <a:xfrm>
              <a:off x="658368" y="1783080"/>
              <a:ext cx="365760" cy="365760"/>
            </a:xfrm>
            <a:prstGeom prst="ellipse">
              <a:avLst/>
            </a:prstGeom>
            <a:solidFill>
              <a:srgbClr val="F26A21"/>
            </a:solidFill>
            <a:ln/>
          </p:spPr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64EDCD9E-D0B1-D65D-6881-224117B7014D}"/>
                </a:ext>
              </a:extLst>
            </p:cNvPr>
            <p:cNvSpPr/>
            <p:nvPr/>
          </p:nvSpPr>
          <p:spPr>
            <a:xfrm>
              <a:off x="658368" y="1783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EFBCCEDD-26BF-6511-7E6A-CEBD05C3CC1B}"/>
                </a:ext>
              </a:extLst>
            </p:cNvPr>
            <p:cNvSpPr/>
            <p:nvPr/>
          </p:nvSpPr>
          <p:spPr>
            <a:xfrm>
              <a:off x="1143000" y="1737360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Passengers</a:t>
              </a:r>
              <a:endParaRPr lang="en-US" sz="1250" dirty="0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036FB744-5B10-2FFF-1F6F-4C4E0E5392B6}"/>
                </a:ext>
              </a:extLst>
            </p:cNvPr>
            <p:cNvSpPr/>
            <p:nvPr/>
          </p:nvSpPr>
          <p:spPr>
            <a:xfrm>
              <a:off x="658368" y="2148840"/>
              <a:ext cx="320954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7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Realistic, confidence-banded ETA at every upcoming station instead of a frozen timetable figure.</a:t>
              </a:r>
              <a:endParaRPr lang="en-US" sz="970" dirty="0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91FFFD4E-EE6C-D01A-B31F-C4867D38EA38}"/>
                </a:ext>
              </a:extLst>
            </p:cNvPr>
            <p:cNvSpPr/>
            <p:nvPr/>
          </p:nvSpPr>
          <p:spPr>
            <a:xfrm>
              <a:off x="4251960" y="1645920"/>
              <a:ext cx="3611880" cy="1143000"/>
            </a:xfrm>
            <a:prstGeom prst="roundRect">
              <a:avLst>
                <a:gd name="adj" fmla="val 5600"/>
              </a:avLst>
            </a:prstGeom>
            <a:solidFill>
              <a:srgbClr val="F7F9FC"/>
            </a:solidFill>
            <a:ln/>
          </p:spPr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D811880C-02B7-6D78-A651-2B1B1DA9C81B}"/>
                </a:ext>
              </a:extLst>
            </p:cNvPr>
            <p:cNvSpPr/>
            <p:nvPr/>
          </p:nvSpPr>
          <p:spPr>
            <a:xfrm>
              <a:off x="4453128" y="1783080"/>
              <a:ext cx="365760" cy="365760"/>
            </a:xfrm>
            <a:prstGeom prst="ellipse">
              <a:avLst/>
            </a:prstGeom>
            <a:solidFill>
              <a:srgbClr val="F26A21"/>
            </a:solidFill>
            <a:ln/>
          </p:spPr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684E2A96-7AE5-9748-9CEB-A0D77B91DFEF}"/>
                </a:ext>
              </a:extLst>
            </p:cNvPr>
            <p:cNvSpPr/>
            <p:nvPr/>
          </p:nvSpPr>
          <p:spPr>
            <a:xfrm>
              <a:off x="4453128" y="1783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D073F8E6-B7B0-3747-B92A-D74C04E6C0CA}"/>
                </a:ext>
              </a:extLst>
            </p:cNvPr>
            <p:cNvSpPr/>
            <p:nvPr/>
          </p:nvSpPr>
          <p:spPr>
            <a:xfrm>
              <a:off x="4937760" y="1737360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Station &amp; Ops Staff</a:t>
              </a:r>
              <a:endParaRPr lang="en-US" sz="1250" dirty="0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0C6B0D37-3B17-E4E5-8CCA-1C167522CFA8}"/>
                </a:ext>
              </a:extLst>
            </p:cNvPr>
            <p:cNvSpPr/>
            <p:nvPr/>
          </p:nvSpPr>
          <p:spPr>
            <a:xfrm>
              <a:off x="4453128" y="2148840"/>
              <a:ext cx="320954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7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Explainable delay reasons (e.g. “precedence risk with a higher-priority train”) to plan platforms and connections.</a:t>
              </a:r>
              <a:endParaRPr lang="en-US" sz="970" dirty="0"/>
            </a:p>
          </p:txBody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34A62309-BFED-9AD1-1AEC-F98550D3C65A}"/>
                </a:ext>
              </a:extLst>
            </p:cNvPr>
            <p:cNvSpPr/>
            <p:nvPr/>
          </p:nvSpPr>
          <p:spPr>
            <a:xfrm>
              <a:off x="8046720" y="1645920"/>
              <a:ext cx="3611880" cy="1143000"/>
            </a:xfrm>
            <a:prstGeom prst="roundRect">
              <a:avLst>
                <a:gd name="adj" fmla="val 5600"/>
              </a:avLst>
            </a:prstGeom>
            <a:solidFill>
              <a:srgbClr val="F7F9FC"/>
            </a:solidFill>
            <a:ln/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235A4E9E-2E7D-0492-A2E8-31B78B7A048E}"/>
                </a:ext>
              </a:extLst>
            </p:cNvPr>
            <p:cNvSpPr/>
            <p:nvPr/>
          </p:nvSpPr>
          <p:spPr>
            <a:xfrm>
              <a:off x="8247888" y="1783080"/>
              <a:ext cx="365760" cy="365760"/>
            </a:xfrm>
            <a:prstGeom prst="ellipse">
              <a:avLst/>
            </a:prstGeom>
            <a:solidFill>
              <a:srgbClr val="F26A21"/>
            </a:solidFill>
            <a:ln/>
          </p:spPr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2717526D-F9A6-AADF-0460-B9F7C3CD68C0}"/>
                </a:ext>
              </a:extLst>
            </p:cNvPr>
            <p:cNvSpPr/>
            <p:nvPr/>
          </p:nvSpPr>
          <p:spPr>
            <a:xfrm>
              <a:off x="8247888" y="1783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7753C89B-55F6-D090-F947-676316DF67CB}"/>
                </a:ext>
              </a:extLst>
            </p:cNvPr>
            <p:cNvSpPr/>
            <p:nvPr/>
          </p:nvSpPr>
          <p:spPr>
            <a:xfrm>
              <a:off x="8732520" y="1737360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Railway Planners</a:t>
              </a:r>
              <a:endParaRPr lang="en-US" sz="1250" dirty="0"/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95A9289D-C488-8427-9DEE-74CF6FAB4A01}"/>
                </a:ext>
              </a:extLst>
            </p:cNvPr>
            <p:cNvSpPr/>
            <p:nvPr/>
          </p:nvSpPr>
          <p:spPr>
            <a:xfrm>
              <a:off x="8247888" y="2148840"/>
              <a:ext cx="3209544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97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continuously-retrained view of section-level delay and conflict patterns to inform future scheduling.</a:t>
              </a:r>
              <a:endParaRPr lang="en-US" sz="970" dirty="0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4C1539CF-696E-A93A-AAB5-A6FA1C9DEF5E}"/>
                </a:ext>
              </a:extLst>
            </p:cNvPr>
            <p:cNvSpPr/>
            <p:nvPr/>
          </p:nvSpPr>
          <p:spPr>
            <a:xfrm>
              <a:off x="457200" y="3063240"/>
              <a:ext cx="11247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kern="0" spc="100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BENEFITS</a:t>
              </a:r>
              <a:endParaRPr lang="en-US" sz="1250" dirty="0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1B29B404-4720-BFA1-C6EF-9F44E668F372}"/>
                </a:ext>
              </a:extLst>
            </p:cNvPr>
            <p:cNvSpPr/>
            <p:nvPr/>
          </p:nvSpPr>
          <p:spPr>
            <a:xfrm>
              <a:off x="457200" y="3383280"/>
              <a:ext cx="2697480" cy="2514600"/>
            </a:xfrm>
            <a:prstGeom prst="roundRect">
              <a:avLst>
                <a:gd name="adj" fmla="val 2545"/>
              </a:avLst>
            </a:prstGeom>
            <a:solidFill>
              <a:srgbClr val="FFFFFF"/>
            </a:solidFill>
            <a:ln w="19050">
              <a:solidFill>
                <a:srgbClr val="F26A21"/>
              </a:solidFill>
              <a:prstDash val="solid"/>
            </a:ln>
          </p:spPr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1DBB56F2-A8AD-DAF3-EFC0-A749152EE8A6}"/>
                </a:ext>
              </a:extLst>
            </p:cNvPr>
            <p:cNvSpPr/>
            <p:nvPr/>
          </p:nvSpPr>
          <p:spPr>
            <a:xfrm>
              <a:off x="457200" y="3383280"/>
              <a:ext cx="2697480" cy="411480"/>
            </a:xfrm>
            <a:prstGeom prst="rect">
              <a:avLst/>
            </a:prstGeom>
            <a:solidFill>
              <a:srgbClr val="F26A21"/>
            </a:solidFill>
            <a:ln/>
          </p:spPr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64D67C06-FB91-4256-8973-1502B4F7119C}"/>
                </a:ext>
              </a:extLst>
            </p:cNvPr>
            <p:cNvSpPr/>
            <p:nvPr/>
          </p:nvSpPr>
          <p:spPr>
            <a:xfrm>
              <a:off x="457200" y="3383280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Social</a:t>
              </a:r>
              <a:endParaRPr lang="en-US" sz="1300" dirty="0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9968AAF3-779E-5EC5-9AFE-C4FFE8CC4F62}"/>
                </a:ext>
              </a:extLst>
            </p:cNvPr>
            <p:cNvSpPr/>
            <p:nvPr/>
          </p:nvSpPr>
          <p:spPr>
            <a:xfrm>
              <a:off x="640080" y="3913632"/>
              <a:ext cx="2331720" cy="1874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Less uncertainty and station-platform stress; easier trip planning for lakhs of daily passengers.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5B6B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Plain-language delay reasons cut down enquiry-counter and helpline load at busy stations.</a:t>
              </a:r>
              <a:endParaRPr lang="en-US" sz="1000" dirty="0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F00FE254-B657-C258-FEEB-C6B1E96B063F}"/>
                </a:ext>
              </a:extLst>
            </p:cNvPr>
            <p:cNvSpPr/>
            <p:nvPr/>
          </p:nvSpPr>
          <p:spPr>
            <a:xfrm>
              <a:off x="3291840" y="3383280"/>
              <a:ext cx="2697480" cy="2514600"/>
            </a:xfrm>
            <a:prstGeom prst="roundRect">
              <a:avLst>
                <a:gd name="adj" fmla="val 2545"/>
              </a:avLst>
            </a:prstGeom>
            <a:solidFill>
              <a:srgbClr val="FFFFFF"/>
            </a:solidFill>
            <a:ln w="19050">
              <a:solidFill>
                <a:srgbClr val="0B2E59"/>
              </a:solidFill>
              <a:prstDash val="solid"/>
            </a:ln>
          </p:spPr>
        </p:sp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E93D4454-40DF-0CAD-8A86-8DE09C9FFEB3}"/>
                </a:ext>
              </a:extLst>
            </p:cNvPr>
            <p:cNvSpPr/>
            <p:nvPr/>
          </p:nvSpPr>
          <p:spPr>
            <a:xfrm>
              <a:off x="3291840" y="3383280"/>
              <a:ext cx="2697480" cy="411480"/>
            </a:xfrm>
            <a:prstGeom prst="rect">
              <a:avLst/>
            </a:prstGeom>
            <a:solidFill>
              <a:srgbClr val="0B2E59"/>
            </a:solidFill>
            <a:ln/>
          </p:spPr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A899EE2B-2C1C-F1F1-55ED-64125FA076B6}"/>
                </a:ext>
              </a:extLst>
            </p:cNvPr>
            <p:cNvSpPr/>
            <p:nvPr/>
          </p:nvSpPr>
          <p:spPr>
            <a:xfrm>
              <a:off x="3291840" y="3383280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Economic</a:t>
              </a:r>
              <a:endParaRPr lang="en-US" sz="1300" dirty="0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252D1824-D0A2-5ADC-76B4-C255FC15B47A}"/>
                </a:ext>
              </a:extLst>
            </p:cNvPr>
            <p:cNvSpPr/>
            <p:nvPr/>
          </p:nvSpPr>
          <p:spPr>
            <a:xfrm>
              <a:off x="3474720" y="3913632"/>
              <a:ext cx="2331720" cy="1874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Better crew, catering and platform-resource allocation from earlier, more accurate ETA signals.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5B6B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Fewer missed connections for passengers, and earlier warning of knock-on delays for freight/parcel yards.</a:t>
              </a:r>
              <a:endParaRPr lang="en-US" sz="1000" dirty="0"/>
            </a:p>
          </p:txBody>
        </p:sp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BD143F1E-6483-B94F-4392-100A2EBED3AC}"/>
                </a:ext>
              </a:extLst>
            </p:cNvPr>
            <p:cNvSpPr/>
            <p:nvPr/>
          </p:nvSpPr>
          <p:spPr>
            <a:xfrm>
              <a:off x="6126480" y="3383280"/>
              <a:ext cx="2697480" cy="2514600"/>
            </a:xfrm>
            <a:prstGeom prst="roundRect">
              <a:avLst>
                <a:gd name="adj" fmla="val 2545"/>
              </a:avLst>
            </a:prstGeom>
            <a:solidFill>
              <a:srgbClr val="FFFFFF"/>
            </a:solidFill>
            <a:ln w="19050">
              <a:solidFill>
                <a:srgbClr val="2E7D57"/>
              </a:solidFill>
              <a:prstDash val="solid"/>
            </a:ln>
          </p:spPr>
        </p:sp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FFC52EE5-B294-23BD-8878-5DD9C9903B7F}"/>
                </a:ext>
              </a:extLst>
            </p:cNvPr>
            <p:cNvSpPr/>
            <p:nvPr/>
          </p:nvSpPr>
          <p:spPr>
            <a:xfrm>
              <a:off x="6126480" y="3383280"/>
              <a:ext cx="2697480" cy="411480"/>
            </a:xfrm>
            <a:prstGeom prst="rect">
              <a:avLst/>
            </a:prstGeom>
            <a:solidFill>
              <a:srgbClr val="2E7D57"/>
            </a:solidFill>
            <a:ln/>
          </p:spPr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1DEF8DA7-1A13-B5D1-30C1-4D21C7D94D37}"/>
                </a:ext>
              </a:extLst>
            </p:cNvPr>
            <p:cNvSpPr/>
            <p:nvPr/>
          </p:nvSpPr>
          <p:spPr>
            <a:xfrm>
              <a:off x="6126480" y="3383280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Operational</a:t>
              </a:r>
              <a:endParaRPr lang="en-US" sz="1300" dirty="0"/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B63432DD-C396-5E54-7A13-FE2BD4C9C7E8}"/>
                </a:ext>
              </a:extLst>
            </p:cNvPr>
            <p:cNvSpPr/>
            <p:nvPr/>
          </p:nvSpPr>
          <p:spPr>
            <a:xfrm>
              <a:off x="6309360" y="3913632"/>
              <a:ext cx="2331720" cy="1874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Precedence-conflict visibility gives dispatchers an early, explainable warning — not just a delayed number.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5B6B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Recurring section-level conflicts surface as a ranked list, turning ad-hoc firefighting into a fixable backlog.</a:t>
              </a:r>
              <a:endParaRPr lang="en-US" sz="1000" dirty="0"/>
            </a:p>
          </p:txBody>
        </p:sp>
        <p:sp>
          <p:nvSpPr>
            <p:cNvPr id="37" name="Shape 31">
              <a:extLst>
                <a:ext uri="{FF2B5EF4-FFF2-40B4-BE49-F238E27FC236}">
                  <a16:creationId xmlns:a16="http://schemas.microsoft.com/office/drawing/2014/main" id="{B2A0D91A-7E06-4AE0-080C-1E3D50FEBC3B}"/>
                </a:ext>
              </a:extLst>
            </p:cNvPr>
            <p:cNvSpPr/>
            <p:nvPr/>
          </p:nvSpPr>
          <p:spPr>
            <a:xfrm>
              <a:off x="8961120" y="3383280"/>
              <a:ext cx="2697480" cy="2514600"/>
            </a:xfrm>
            <a:prstGeom prst="roundRect">
              <a:avLst>
                <a:gd name="adj" fmla="val 2545"/>
              </a:avLst>
            </a:prstGeom>
            <a:solidFill>
              <a:srgbClr val="FFFFFF"/>
            </a:solidFill>
            <a:ln w="19050">
              <a:solidFill>
                <a:srgbClr val="B3382C"/>
              </a:solidFill>
              <a:prstDash val="solid"/>
            </a:ln>
          </p:spPr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8A54B4D5-91F1-661E-D308-138465E729D6}"/>
                </a:ext>
              </a:extLst>
            </p:cNvPr>
            <p:cNvSpPr/>
            <p:nvPr/>
          </p:nvSpPr>
          <p:spPr>
            <a:xfrm>
              <a:off x="8961120" y="3383280"/>
              <a:ext cx="2697480" cy="411480"/>
            </a:xfrm>
            <a:prstGeom prst="rect">
              <a:avLst/>
            </a:prstGeom>
            <a:solidFill>
              <a:srgbClr val="B3382C"/>
            </a:solidFill>
            <a:ln/>
          </p:spPr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70D7B6BD-1917-A340-FD7E-33D400F8B182}"/>
                </a:ext>
              </a:extLst>
            </p:cNvPr>
            <p:cNvSpPr/>
            <p:nvPr/>
          </p:nvSpPr>
          <p:spPr>
            <a:xfrm>
              <a:off x="8961120" y="3383280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Scalability</a:t>
              </a:r>
              <a:endParaRPr lang="en-US" sz="1300" dirty="0"/>
            </a:p>
          </p:txBody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42D9E406-3079-D7E9-9670-CE8F2503B5C6}"/>
                </a:ext>
              </a:extLst>
            </p:cNvPr>
            <p:cNvSpPr/>
            <p:nvPr/>
          </p:nvSpPr>
          <p:spPr>
            <a:xfrm>
              <a:off x="9144000" y="3913632"/>
              <a:ext cx="2331720" cy="1874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Prototype’s single swap-point design means it plugs straight into CRIS/ISRO RTIS at production scale without rework.</a:t>
              </a: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5B6B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pipeline extends to other zones/divisions by swapping the active-corridor list, with no architecture changes.</a:t>
              </a:r>
              <a:endParaRPr lang="en-US" sz="1000" dirty="0"/>
            </a:p>
          </p:txBody>
        </p:sp>
      </p:grpSp>
      <p:sp>
        <p:nvSpPr>
          <p:cNvPr id="42" name="Oval 41" descr="Your startup LOGO">
            <a:extLst>
              <a:ext uri="{FF2B5EF4-FFF2-40B4-BE49-F238E27FC236}">
                <a16:creationId xmlns:a16="http://schemas.microsoft.com/office/drawing/2014/main" id="{3F620C6E-5AE5-BB39-B731-3E013143CE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SteamX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64BF736D-D36C-617D-19C1-1D5903A1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BCBC08-9631-8AB0-79ED-9703CCDB2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9B2242A-4469-BE05-69FF-61AD01CD4998}"/>
              </a:ext>
            </a:extLst>
          </p:cNvPr>
          <p:cNvSpPr txBox="1">
            <a:spLocks/>
          </p:cNvSpPr>
          <p:nvPr/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729B836-D20D-2CC7-818F-40F5674D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3B66FF3C-D471-287A-0BE4-D1BB9B4C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9" name="Oval 28" descr="Your startup LOGO">
            <a:extLst>
              <a:ext uri="{FF2B5EF4-FFF2-40B4-BE49-F238E27FC236}">
                <a16:creationId xmlns:a16="http://schemas.microsoft.com/office/drawing/2014/main" id="{BA4726B4-FB81-2A4E-E738-76675871D1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SteamX</a:t>
            </a:r>
            <a:endParaRPr lang="en-IN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B36689D-F2FC-D752-4385-57DB74979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62E40C2-F161-ECE8-3F29-F92C71EF4377}"/>
              </a:ext>
            </a:extLst>
          </p:cNvPr>
          <p:cNvGrpSpPr/>
          <p:nvPr/>
        </p:nvGrpSpPr>
        <p:grpSpPr>
          <a:xfrm>
            <a:off x="472439" y="1491972"/>
            <a:ext cx="11247120" cy="4297680"/>
            <a:chOff x="457200" y="1371600"/>
            <a:chExt cx="11247120" cy="429768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C6C6163A-E1B4-C553-CE51-6AC4C761E593}"/>
                </a:ext>
              </a:extLst>
            </p:cNvPr>
            <p:cNvSpPr/>
            <p:nvPr/>
          </p:nvSpPr>
          <p:spPr>
            <a:xfrm>
              <a:off x="457200" y="1371600"/>
              <a:ext cx="11247120" cy="960120"/>
            </a:xfrm>
            <a:prstGeom prst="roundRect">
              <a:avLst>
                <a:gd name="adj" fmla="val 7619"/>
              </a:avLst>
            </a:prstGeom>
            <a:solidFill>
              <a:srgbClr val="0B2E59"/>
            </a:solidFill>
            <a:ln/>
          </p:spPr>
        </p:sp>
        <p:sp>
          <p:nvSpPr>
            <p:cNvPr id="33" name="Text 3">
              <a:extLst>
                <a:ext uri="{FF2B5EF4-FFF2-40B4-BE49-F238E27FC236}">
                  <a16:creationId xmlns:a16="http://schemas.microsoft.com/office/drawing/2014/main" id="{0BB6D6F6-E823-644E-CFD7-7FB35DDDA132}"/>
                </a:ext>
              </a:extLst>
            </p:cNvPr>
            <p:cNvSpPr/>
            <p:nvPr/>
          </p:nvSpPr>
          <p:spPr>
            <a:xfrm>
              <a:off x="731520" y="1463040"/>
              <a:ext cx="10698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pipeline documentation — GitHub Repository</a:t>
              </a:r>
              <a:endParaRPr lang="en-US" sz="1300" dirty="0"/>
            </a:p>
          </p:txBody>
        </p:sp>
        <p:sp>
          <p:nvSpPr>
            <p:cNvPr id="34" name="Text 4">
              <a:extLst>
                <a:ext uri="{FF2B5EF4-FFF2-40B4-BE49-F238E27FC236}">
                  <a16:creationId xmlns:a16="http://schemas.microsoft.com/office/drawing/2014/main" id="{146078F5-06B4-B700-8AD3-DC7EE7B7B26F}"/>
                </a:ext>
              </a:extLst>
            </p:cNvPr>
            <p:cNvSpPr/>
            <p:nvPr/>
          </p:nvSpPr>
          <p:spPr>
            <a:xfrm>
              <a:off x="731520" y="1783080"/>
              <a:ext cx="10698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u="sng" dirty="0">
                  <a:solidFill>
                    <a:srgbClr val="D8E4F2"/>
                  </a:solidFill>
                  <a:ea typeface="Calibri" pitchFamily="34" charset="-122"/>
                  <a:cs typeface="Calibri" pitchFamily="34" charset="-120"/>
                </a:rPr>
                <a:t>https://github.com/bbiswas99/ETA-for-Coaching-Trains</a:t>
              </a:r>
              <a:endParaRPr lang="en-US" sz="1200" dirty="0"/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C7BA7FDE-A876-F991-A302-7C95838002BF}"/>
                </a:ext>
              </a:extLst>
            </p:cNvPr>
            <p:cNvSpPr/>
            <p:nvPr/>
          </p:nvSpPr>
          <p:spPr>
            <a:xfrm>
              <a:off x="731520" y="2057400"/>
              <a:ext cx="10698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solidFill>
                    <a:srgbClr val="D8E4F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Contains “IR ETA Data Flow Analysis” and “IR ETA Prototype Technical Flow” — the complete 11-stage data flow, every join, every field-level transformation, and the full technology walkthrough that this deck summarizes.</a:t>
              </a:r>
              <a:endParaRPr lang="en-US" sz="950" dirty="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F626CBE9-1612-DAEE-8C70-D441D70D1808}"/>
                </a:ext>
              </a:extLst>
            </p:cNvPr>
            <p:cNvSpPr/>
            <p:nvPr/>
          </p:nvSpPr>
          <p:spPr>
            <a:xfrm>
              <a:off x="457200" y="2606040"/>
              <a:ext cx="54406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SOURCES USED</a:t>
              </a:r>
              <a:endParaRPr lang="en-US" sz="1200" dirty="0"/>
            </a:p>
          </p:txBody>
        </p:sp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88ACC71E-8D7C-00AB-B8A9-871B944AA977}"/>
                </a:ext>
              </a:extLst>
            </p:cNvPr>
            <p:cNvSpPr/>
            <p:nvPr/>
          </p:nvSpPr>
          <p:spPr>
            <a:xfrm>
              <a:off x="457200" y="2898648"/>
              <a:ext cx="54406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Historical rail data (5 files):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combined_schedule.csv, combined_delay.csv, train_details.csv, station_full_names.csv, etrain_delays.csv</a:t>
              </a:r>
              <a:r>
                <a:rPr lang="en-US" sz="1000" dirty="0">
                  <a:solidFill>
                    <a:srgbClr val="1B2A3D"/>
                  </a:solidFill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000" dirty="0">
                  <a:solidFill>
                    <a:srgbClr val="1B2A3D"/>
                  </a:solidFill>
                  <a:ea typeface="Calibri" pitchFamily="34" charset="-122"/>
                  <a:cs typeface="Calibri" pitchFamily="34" charset="-120"/>
                </a:rPr>
              </a:br>
              <a:r>
                <a:rPr lang="en-US" sz="1000" dirty="0">
                  <a:solidFill>
                    <a:srgbClr val="1B2A3D"/>
                  </a:solidFill>
                  <a:ea typeface="Calibri" pitchFamily="34" charset="-122"/>
                  <a:cs typeface="Calibri" pitchFamily="34" charset="-120"/>
                </a:rPr>
                <a:t>https://www.kaggle.com/datasets/rxydenxd/indian-railways-delay-dataset</a:t>
              </a:r>
              <a:endParaRPr lang="en-US" sz="1000" dirty="0"/>
            </a:p>
          </p:txBody>
        </p:sp>
        <p:sp>
          <p:nvSpPr>
            <p:cNvPr id="38" name="Text 8">
              <a:extLst>
                <a:ext uri="{FF2B5EF4-FFF2-40B4-BE49-F238E27FC236}">
                  <a16:creationId xmlns:a16="http://schemas.microsoft.com/office/drawing/2014/main" id="{43B9FD30-045F-2BC5-5A4C-6465EFB8FE38}"/>
                </a:ext>
              </a:extLst>
            </p:cNvPr>
            <p:cNvSpPr/>
            <p:nvPr/>
          </p:nvSpPr>
          <p:spPr>
            <a:xfrm>
              <a:off x="457200" y="3465576"/>
              <a:ext cx="54406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tracking (prototype):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NTES + RailYatri / Trainman / Where Is My Train — scraped, reconciled across sources</a:t>
              </a:r>
              <a:endParaRPr lang="en-US" sz="1000" dirty="0"/>
            </a:p>
          </p:txBody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2CCBFDA8-E2AD-334C-448A-6484B969617D}"/>
                </a:ext>
              </a:extLst>
            </p:cNvPr>
            <p:cNvSpPr/>
            <p:nvPr/>
          </p:nvSpPr>
          <p:spPr>
            <a:xfrm>
              <a:off x="457200" y="4032504"/>
              <a:ext cx="54406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geometry: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OpenStreetMap via Overpass API / Geofabrik India extract</a:t>
              </a:r>
              <a:br>
                <a:rPr lang="en-US" sz="1000" dirty="0">
                  <a:solidFill>
                    <a:srgbClr val="1B2A3D"/>
                  </a:solidFill>
                  <a:ea typeface="Calibri" pitchFamily="34" charset="-122"/>
                  <a:cs typeface="Calibri" pitchFamily="34" charset="-120"/>
                </a:rPr>
              </a:br>
              <a:r>
                <a:rPr lang="en-US" sz="1000" dirty="0">
                  <a:solidFill>
                    <a:srgbClr val="1B2A3D"/>
                  </a:solidFill>
                  <a:ea typeface="Calibri" pitchFamily="34" charset="-122"/>
                  <a:cs typeface="Calibri" pitchFamily="34" charset="-120"/>
                  <a:hlinkClick r:id="rId4"/>
                </a:rPr>
                <a:t>https://www.openstreetmap.org/#map=7/27.352/81.699&amp;layers=T</a:t>
              </a:r>
              <a:endParaRPr lang="en-US" sz="10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00" dirty="0"/>
                <a:t>https://wiki.openstreetmap.org/wiki/Overpass_API</a:t>
              </a:r>
            </a:p>
          </p:txBody>
        </p:sp>
        <p:sp>
          <p:nvSpPr>
            <p:cNvPr id="40" name="Text 10">
              <a:extLst>
                <a:ext uri="{FF2B5EF4-FFF2-40B4-BE49-F238E27FC236}">
                  <a16:creationId xmlns:a16="http://schemas.microsoft.com/office/drawing/2014/main" id="{F1BE289F-2609-5725-976F-4191639C6E1F}"/>
                </a:ext>
              </a:extLst>
            </p:cNvPr>
            <p:cNvSpPr/>
            <p:nvPr/>
          </p:nvSpPr>
          <p:spPr>
            <a:xfrm>
              <a:off x="457200" y="4599432"/>
              <a:ext cx="54406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Future production feed: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CRIS/ISRO RTIS — real-time GPS, pending data-sharing agreement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00" dirty="0"/>
                <a:t>https://cris.org.in/</a:t>
              </a: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B4BBAB20-3A56-9A72-2B0D-7D10754618B3}"/>
                </a:ext>
              </a:extLst>
            </p:cNvPr>
            <p:cNvSpPr/>
            <p:nvPr/>
          </p:nvSpPr>
          <p:spPr>
            <a:xfrm>
              <a:off x="457200" y="5166360"/>
              <a:ext cx="54406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Sandbox-only: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Synthetic Kaggle dataset (ir_train.csv) — isolated, excluded from the main pipeline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00" dirty="0"/>
                <a:t>https://www.kaggle.com/competitions/indian-railways-predict-train-delay/overview</a:t>
              </a:r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51F24D2C-DF71-E6AE-7B3C-28A595A80198}"/>
                </a:ext>
              </a:extLst>
            </p:cNvPr>
            <p:cNvSpPr/>
            <p:nvPr/>
          </p:nvSpPr>
          <p:spPr>
            <a:xfrm>
              <a:off x="6263640" y="2606040"/>
              <a:ext cx="54406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PLANNED INTEGRATIONS &amp; METHOD REFERENCES</a:t>
              </a:r>
              <a:endParaRPr lang="en-US" sz="1200" dirty="0"/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B4C1FAAA-6DF6-A8AE-7CBD-1E3B30A4DF2D}"/>
                </a:ext>
              </a:extLst>
            </p:cNvPr>
            <p:cNvSpPr/>
            <p:nvPr/>
          </p:nvSpPr>
          <p:spPr>
            <a:xfrm>
              <a:off x="6263640" y="2898648"/>
              <a:ext cx="544068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IMD Weather API: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Visibility, rainfall, cyclone alerts — named in the architecture, static seasonal flag used in the prototype</a:t>
              </a:r>
              <a:endParaRPr lang="en-US" sz="1000" dirty="0"/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38614BEC-D937-0C95-7872-DA2C86527042}"/>
                </a:ext>
              </a:extLst>
            </p:cNvPr>
            <p:cNvSpPr/>
            <p:nvPr/>
          </p:nvSpPr>
          <p:spPr>
            <a:xfrm>
              <a:off x="6263640" y="3557016"/>
              <a:ext cx="544068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TSR/PSR notices: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Railway-division speed-restriction PDFs/Excel — NLP/regex parser planned</a:t>
              </a:r>
              <a:endParaRPr lang="en-US" sz="1000" dirty="0"/>
            </a:p>
          </p:txBody>
        </p:sp>
        <p:sp>
          <p:nvSpPr>
            <p:cNvPr id="45" name="Text 15">
              <a:extLst>
                <a:ext uri="{FF2B5EF4-FFF2-40B4-BE49-F238E27FC236}">
                  <a16:creationId xmlns:a16="http://schemas.microsoft.com/office/drawing/2014/main" id="{2711DFE6-885B-A8B0-C0D7-CC5516C81D66}"/>
                </a:ext>
              </a:extLst>
            </p:cNvPr>
            <p:cNvSpPr/>
            <p:nvPr/>
          </p:nvSpPr>
          <p:spPr>
            <a:xfrm>
              <a:off x="6263640" y="4215384"/>
              <a:ext cx="544068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Modelling approach: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Baseline (schedule arithmetic) + tree-ensemble residual model (RF / XGBoost) + quantile/variance-based uncertainty layer</a:t>
              </a:r>
              <a:endParaRPr lang="en-US" sz="1000" dirty="0"/>
            </a:p>
          </p:txBody>
        </p:sp>
        <p:sp>
          <p:nvSpPr>
            <p:cNvPr id="46" name="Text 16">
              <a:extLst>
                <a:ext uri="{FF2B5EF4-FFF2-40B4-BE49-F238E27FC236}">
                  <a16:creationId xmlns:a16="http://schemas.microsoft.com/office/drawing/2014/main" id="{4EE5F425-0FF5-0084-5C09-908B7B9143BB}"/>
                </a:ext>
              </a:extLst>
            </p:cNvPr>
            <p:cNvSpPr/>
            <p:nvPr/>
          </p:nvSpPr>
          <p:spPr>
            <a:xfrm>
              <a:off x="6263640" y="4873752"/>
              <a:ext cx="5440680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dirty="0">
                  <a:solidFill>
                    <a:srgbClr val="0B2E5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Validation method: </a:t>
              </a:r>
              <a:r>
                <a:rPr lang="en-US" sz="1000" dirty="0">
                  <a:solidFill>
                    <a:srgbClr val="1B2A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Time-based train/test split (no random shuffling) to avoid future-data leakage in this time-series problem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7506</TotalTime>
  <Words>1563</Words>
  <Application>Microsoft Office PowerPoint</Application>
  <PresentationFormat>Widescreen</PresentationFormat>
  <Paragraphs>178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Bhavya Biswas</cp:lastModifiedBy>
  <cp:revision>150</cp:revision>
  <dcterms:created xsi:type="dcterms:W3CDTF">2013-12-12T18:46:50Z</dcterms:created>
  <dcterms:modified xsi:type="dcterms:W3CDTF">2026-09-12T09:16:41Z</dcterms:modified>
  <cp:category/>
</cp:coreProperties>
</file>